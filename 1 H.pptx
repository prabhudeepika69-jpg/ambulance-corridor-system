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Gilda Display" charset="1" panose="02000000000000000000"/>
      <p:regular r:id="rId14"/>
    </p:embeddedFont>
    <p:embeddedFont>
      <p:font typeface="Codec Pro" charset="1" panose="00000500000000000000"/>
      <p:regular r:id="rId15"/>
    </p:embeddedFont>
    <p:embeddedFont>
      <p:font typeface="Codec Pro Bold" charset="1" panose="00000600000000000000"/>
      <p:regular r:id="rId16"/>
    </p:embeddedFont>
    <p:embeddedFont>
      <p:font typeface="Roboto" charset="1" panose="02000000000000000000"/>
      <p:regular r:id="rId17"/>
    </p:embeddedFont>
    <p:embeddedFont>
      <p:font typeface="Roboto Bold" charset="1" panose="02000000000000000000"/>
      <p:regular r:id="rId18"/>
    </p:embeddedFont>
    <p:embeddedFont>
      <p:font typeface="Arial MT Pro Bold" charset="1" panose="020B0802020202020204"/>
      <p:regular r:id="rId19"/>
    </p:embeddedFont>
    <p:embeddedFont>
      <p:font typeface="Arial MT Pro" charset="1" panose="020B0502020202020204"/>
      <p:regular r:id="rId20"/>
    </p:embeddedFont>
    <p:embeddedFont>
      <p:font typeface="RQND Pro Medium" charset="1" panose="00000500000000000000"/>
      <p:regular r:id="rId21"/>
    </p:embeddedFont>
    <p:embeddedFont>
      <p:font typeface="Open Sauce" charset="1" panose="00000500000000000000"/>
      <p:regular r:id="rId22"/>
    </p:embeddedFont>
    <p:embeddedFont>
      <p:font typeface="DM Sans" charset="1" panose="00000000000000000000"/>
      <p:regular r:id="rId23"/>
    </p:embeddedFont>
    <p:embeddedFont>
      <p:font typeface="DM Sans Bold" charset="1" panose="00000000000000000000"/>
      <p:regular r:id="rId24"/>
    </p:embeddedFont>
    <p:embeddedFont>
      <p:font typeface="Arimo" charset="1" panose="020B0604020202020204"/>
      <p:regular r:id="rId25"/>
    </p:embeddedFont>
    <p:embeddedFont>
      <p:font typeface="RQND Pro" charset="1" panose="000005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2" Target="../media/image1.jpeg" Type="http://schemas.openxmlformats.org/officeDocument/2006/relationships/image"/><Relationship Id="rId3" Target="../media/image10.jpe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6.png" Type="http://schemas.openxmlformats.org/officeDocument/2006/relationships/image"/><Relationship Id="rId9" Target="../media/image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577" t="-23644" r="-8939" b="-1554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916502" y="800311"/>
            <a:ext cx="342798" cy="228389"/>
          </a:xfrm>
          <a:custGeom>
            <a:avLst/>
            <a:gdLst/>
            <a:ahLst/>
            <a:cxnLst/>
            <a:rect r="r" b="b" t="t" l="l"/>
            <a:pathLst>
              <a:path h="228389" w="342798">
                <a:moveTo>
                  <a:pt x="0" y="0"/>
                </a:moveTo>
                <a:lnTo>
                  <a:pt x="342798" y="0"/>
                </a:lnTo>
                <a:lnTo>
                  <a:pt x="342798" y="228389"/>
                </a:lnTo>
                <a:lnTo>
                  <a:pt x="0" y="2283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3107297"/>
            <a:ext cx="16230600" cy="4072405"/>
          </a:xfrm>
          <a:custGeom>
            <a:avLst/>
            <a:gdLst/>
            <a:ahLst/>
            <a:cxnLst/>
            <a:rect r="r" b="b" t="t" l="l"/>
            <a:pathLst>
              <a:path h="4072405" w="16230600">
                <a:moveTo>
                  <a:pt x="0" y="0"/>
                </a:moveTo>
                <a:lnTo>
                  <a:pt x="16230600" y="0"/>
                </a:lnTo>
                <a:lnTo>
                  <a:pt x="16230600" y="4072406"/>
                </a:lnTo>
                <a:lnTo>
                  <a:pt x="0" y="40724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423497" y="7650734"/>
            <a:ext cx="5589376" cy="609750"/>
          </a:xfrm>
          <a:custGeom>
            <a:avLst/>
            <a:gdLst/>
            <a:ahLst/>
            <a:cxnLst/>
            <a:rect r="r" b="b" t="t" l="l"/>
            <a:pathLst>
              <a:path h="609750" w="5589376">
                <a:moveTo>
                  <a:pt x="0" y="0"/>
                </a:moveTo>
                <a:lnTo>
                  <a:pt x="5589377" y="0"/>
                </a:lnTo>
                <a:lnTo>
                  <a:pt x="5589377" y="609750"/>
                </a:lnTo>
                <a:lnTo>
                  <a:pt x="0" y="6097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982472" y="2246836"/>
            <a:ext cx="5589376" cy="609750"/>
          </a:xfrm>
          <a:custGeom>
            <a:avLst/>
            <a:gdLst/>
            <a:ahLst/>
            <a:cxnLst/>
            <a:rect r="r" b="b" t="t" l="l"/>
            <a:pathLst>
              <a:path h="609750" w="5589376">
                <a:moveTo>
                  <a:pt x="0" y="0"/>
                </a:moveTo>
                <a:lnTo>
                  <a:pt x="5589377" y="0"/>
                </a:lnTo>
                <a:lnTo>
                  <a:pt x="5589377" y="609750"/>
                </a:lnTo>
                <a:lnTo>
                  <a:pt x="0" y="6097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283861" y="7650734"/>
            <a:ext cx="1758378" cy="1758378"/>
          </a:xfrm>
          <a:custGeom>
            <a:avLst/>
            <a:gdLst/>
            <a:ahLst/>
            <a:cxnLst/>
            <a:rect r="r" b="b" t="t" l="l"/>
            <a:pathLst>
              <a:path h="1758378" w="1758378">
                <a:moveTo>
                  <a:pt x="0" y="0"/>
                </a:moveTo>
                <a:lnTo>
                  <a:pt x="1758378" y="0"/>
                </a:lnTo>
                <a:lnTo>
                  <a:pt x="1758378" y="1758378"/>
                </a:lnTo>
                <a:lnTo>
                  <a:pt x="0" y="175837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549976" y="-1571986"/>
            <a:ext cx="3143972" cy="3143972"/>
          </a:xfrm>
          <a:custGeom>
            <a:avLst/>
            <a:gdLst/>
            <a:ahLst/>
            <a:cxnLst/>
            <a:rect r="r" b="b" t="t" l="l"/>
            <a:pathLst>
              <a:path h="3143972" w="3143972">
                <a:moveTo>
                  <a:pt x="0" y="0"/>
                </a:moveTo>
                <a:lnTo>
                  <a:pt x="3143972" y="0"/>
                </a:lnTo>
                <a:lnTo>
                  <a:pt x="3143972" y="3143972"/>
                </a:lnTo>
                <a:lnTo>
                  <a:pt x="0" y="314397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060457" y="4531670"/>
            <a:ext cx="14698547" cy="1358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60"/>
              </a:lnSpc>
              <a:spcBef>
                <a:spcPct val="0"/>
              </a:spcBef>
            </a:pPr>
            <a:r>
              <a:rPr lang="en-US" sz="3900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DYNAMIC EMERGENCY CORRIDOR – SMART AMBULANCE TRAFFIC CLEARANCE SYSTEM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577" t="-23644" r="-8939" b="-1554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916502" y="800311"/>
            <a:ext cx="342798" cy="228389"/>
          </a:xfrm>
          <a:custGeom>
            <a:avLst/>
            <a:gdLst/>
            <a:ahLst/>
            <a:cxnLst/>
            <a:rect r="r" b="b" t="t" l="l"/>
            <a:pathLst>
              <a:path h="228389" w="342798">
                <a:moveTo>
                  <a:pt x="0" y="0"/>
                </a:moveTo>
                <a:lnTo>
                  <a:pt x="342798" y="0"/>
                </a:lnTo>
                <a:lnTo>
                  <a:pt x="342798" y="228389"/>
                </a:lnTo>
                <a:lnTo>
                  <a:pt x="0" y="2283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27166" y="6152418"/>
            <a:ext cx="16089336" cy="4215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26"/>
              </a:lnSpc>
            </a:pPr>
            <a:r>
              <a:rPr lang="en-US" sz="2855" spc="-114">
                <a:solidFill>
                  <a:srgbClr val="FFFFFF">
                    <a:alpha val="60000"/>
                  </a:srgbClr>
                </a:solidFill>
                <a:latin typeface="Codec Pro"/>
                <a:ea typeface="Codec Pro"/>
                <a:cs typeface="Codec Pro"/>
                <a:sym typeface="Codec Pro"/>
              </a:rPr>
              <a:t>     </a:t>
            </a:r>
            <a:r>
              <a:rPr lang="en-US" sz="2855" spc="-114">
                <a:solidFill>
                  <a:srgbClr val="0097B2">
                    <a:alpha val="60000"/>
                  </a:srgbClr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855" spc="-114" b="true">
                <a:solidFill>
                  <a:srgbClr val="FFFFFF">
                    <a:alpha val="60000"/>
                  </a:srgbClr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Current World Situation</a:t>
            </a:r>
          </a:p>
          <a:p>
            <a:pPr algn="l" marL="616567" indent="-308283" lvl="1">
              <a:lnSpc>
                <a:spcPts val="4426"/>
              </a:lnSpc>
              <a:buFont typeface="Arial"/>
              <a:buChar char="•"/>
            </a:pPr>
            <a:r>
              <a:rPr lang="en-US" b="true" sz="2855" spc="-114">
                <a:solidFill>
                  <a:srgbClr val="FFFFFF">
                    <a:alpha val="60000"/>
                  </a:srgbClr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Ambulances often get stuck in traffic.</a:t>
            </a:r>
          </a:p>
          <a:p>
            <a:pPr algn="l" marL="616567" indent="-308283" lvl="1">
              <a:lnSpc>
                <a:spcPts val="4426"/>
              </a:lnSpc>
              <a:buFont typeface="Arial"/>
              <a:buChar char="•"/>
            </a:pPr>
            <a:r>
              <a:rPr lang="en-US" b="true" sz="2855" spc="-114">
                <a:solidFill>
                  <a:srgbClr val="FFFFFF">
                    <a:alpha val="60000"/>
                  </a:srgbClr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Drivers may not know an ambulance is approaching.</a:t>
            </a:r>
          </a:p>
          <a:p>
            <a:pPr algn="l" marL="616567" indent="-308283" lvl="1">
              <a:lnSpc>
                <a:spcPts val="4426"/>
              </a:lnSpc>
              <a:buFont typeface="Arial"/>
              <a:buChar char="•"/>
            </a:pPr>
            <a:r>
              <a:rPr lang="en-US" b="true" sz="2855" spc="-114">
                <a:solidFill>
                  <a:srgbClr val="FFFFFF">
                    <a:alpha val="60000"/>
                  </a:srgbClr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Sirens give warning only when the ambulance is nearby.</a:t>
            </a:r>
          </a:p>
          <a:p>
            <a:pPr algn="l" marL="616567" indent="-308283" lvl="1">
              <a:lnSpc>
                <a:spcPts val="4426"/>
              </a:lnSpc>
              <a:buFont typeface="Arial"/>
              <a:buChar char="•"/>
            </a:pPr>
            <a:r>
              <a:rPr lang="en-US" b="true" sz="2855" spc="-114">
                <a:solidFill>
                  <a:srgbClr val="FFFFFF">
                    <a:alpha val="60000"/>
                  </a:srgbClr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Traffic police may not get advance information.</a:t>
            </a:r>
          </a:p>
          <a:p>
            <a:pPr algn="l" marL="616567" indent="-308283" lvl="1">
              <a:lnSpc>
                <a:spcPts val="4426"/>
              </a:lnSpc>
              <a:buFont typeface="Arial"/>
              <a:buChar char="•"/>
            </a:pPr>
            <a:r>
              <a:rPr lang="en-US" b="true" sz="2855" spc="-114">
                <a:solidFill>
                  <a:srgbClr val="FFFFFF">
                    <a:alpha val="60000"/>
                  </a:srgbClr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This can cause delays in emergency treatment.</a:t>
            </a:r>
          </a:p>
          <a:p>
            <a:pPr algn="l">
              <a:lnSpc>
                <a:spcPts val="3197"/>
              </a:lnSpc>
            </a:pPr>
          </a:p>
          <a:p>
            <a:pPr algn="l" marL="0" indent="0" lvl="0">
              <a:lnSpc>
                <a:spcPts val="3197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567183" y="119811"/>
            <a:ext cx="15275579" cy="68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42"/>
              </a:lnSpc>
              <a:spcBef>
                <a:spcPct val="0"/>
              </a:spcBef>
            </a:pPr>
            <a:r>
              <a:rPr lang="en-US" sz="3958" u="sng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   THE PROBLEM AND WHO IS AFFECTED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6605" y="1332948"/>
            <a:ext cx="15650148" cy="5529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11"/>
              </a:lnSpc>
            </a:pPr>
            <a:r>
              <a:rPr lang="en-US" sz="2579">
                <a:solidFill>
                  <a:srgbClr val="00BBDE"/>
                </a:solidFill>
                <a:latin typeface="Codec Pro"/>
                <a:ea typeface="Codec Pro"/>
                <a:cs typeface="Codec Pro"/>
                <a:sym typeface="Codec Pro"/>
              </a:rPr>
              <a:t>AMBULANCES CAN LOSE VALUABLE TIME IN HIGHWAY TRAFFIC BECAUSE NEARBY DRIVERS AND TRAFFIC AUTHORITIES MAY NOT KNOW THAT AN AMBULANCE IS APPROACHING UNTIL IT IS VERY CLOSE.</a:t>
            </a:r>
          </a:p>
          <a:p>
            <a:pPr algn="just">
              <a:lnSpc>
                <a:spcPts val="3115"/>
              </a:lnSpc>
            </a:pPr>
          </a:p>
          <a:p>
            <a:pPr algn="just" marL="523703" indent="-261851" lvl="1">
              <a:lnSpc>
                <a:spcPts val="3395"/>
              </a:lnSpc>
              <a:buAutoNum type="arabicPeriod" startAt="1"/>
            </a:pPr>
            <a:r>
              <a:rPr lang="en-US" sz="24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🚑</a:t>
            </a:r>
            <a:r>
              <a:rPr lang="en-US" b="true" sz="2425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 AMBULANCE &amp; PATIENT </a:t>
            </a:r>
            <a:r>
              <a:rPr lang="en-US" sz="24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– DELAYS CAN INCREASE THE TIME NEEDED TO REACH THE HOSPITAL.</a:t>
            </a:r>
          </a:p>
          <a:p>
            <a:pPr algn="just" marL="523703" indent="-261851" lvl="1">
              <a:lnSpc>
                <a:spcPts val="3395"/>
              </a:lnSpc>
              <a:buAutoNum type="arabicPeriod" startAt="1"/>
            </a:pPr>
            <a:r>
              <a:rPr lang="en-US" sz="24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👨‍⚕️</a:t>
            </a:r>
            <a:r>
              <a:rPr lang="en-US" b="true" sz="2425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 EMERGENCY MEDICAL TEAMS </a:t>
            </a:r>
            <a:r>
              <a:rPr lang="en-US" sz="24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– THEY MAY STRUGGLE TO REACH THE DESTINATION QUICKLY.</a:t>
            </a:r>
          </a:p>
          <a:p>
            <a:pPr algn="just" marL="523703" indent="-261851" lvl="1">
              <a:lnSpc>
                <a:spcPts val="3395"/>
              </a:lnSpc>
              <a:buAutoNum type="arabicPeriod" startAt="1"/>
            </a:pPr>
            <a:r>
              <a:rPr lang="en-US" sz="24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🚗 </a:t>
            </a:r>
            <a:r>
              <a:rPr lang="en-US" b="true" sz="2425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OTHER VEHICLE DRIVERS </a:t>
            </a:r>
            <a:r>
              <a:rPr lang="en-US" sz="24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– THEY MAY NOT KNOW WHERE OR WHEN TO CREATE A PATH.</a:t>
            </a:r>
          </a:p>
          <a:p>
            <a:pPr algn="just" marL="523703" indent="-261851" lvl="1">
              <a:lnSpc>
                <a:spcPts val="3395"/>
              </a:lnSpc>
              <a:buAutoNum type="arabicPeriod" startAt="1"/>
            </a:pPr>
            <a:r>
              <a:rPr lang="en-US" sz="24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👮</a:t>
            </a:r>
            <a:r>
              <a:rPr lang="en-US" b="true" sz="2425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 TRAFFIC POLICE </a:t>
            </a:r>
            <a:r>
              <a:rPr lang="en-US" sz="24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– THEY MAY RECEIVE INFORMATION TOO LATE TO MANAGE TRAFFIC EFFECTIVELY.</a:t>
            </a:r>
          </a:p>
          <a:p>
            <a:pPr algn="just" marL="523703" indent="-261851" lvl="1">
              <a:lnSpc>
                <a:spcPts val="3395"/>
              </a:lnSpc>
              <a:buAutoNum type="arabicPeriod" startAt="1"/>
            </a:pPr>
            <a:r>
              <a:rPr lang="en-US" sz="24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🏥</a:t>
            </a:r>
            <a:r>
              <a:rPr lang="en-US" b="true" sz="2425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 HOSPITALS –</a:t>
            </a:r>
            <a:r>
              <a:rPr lang="en-US" sz="24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DELAYED AMBULANCE ARRIVAL CAN AFFECT EMERGENCY TREATMENT.</a:t>
            </a:r>
          </a:p>
          <a:p>
            <a:pPr algn="just">
              <a:lnSpc>
                <a:spcPts val="3115"/>
              </a:lnSpc>
            </a:pPr>
          </a:p>
          <a:p>
            <a:pPr algn="just">
              <a:lnSpc>
                <a:spcPts val="3208"/>
              </a:lnSpc>
            </a:pPr>
          </a:p>
          <a:p>
            <a:pPr algn="just">
              <a:lnSpc>
                <a:spcPts val="3208"/>
              </a:lnSpc>
            </a:pPr>
          </a:p>
          <a:p>
            <a:pPr algn="just" marL="0" indent="0" lvl="0">
              <a:lnSpc>
                <a:spcPts val="3208"/>
              </a:lnSpc>
              <a:spcBef>
                <a:spcPct val="0"/>
              </a:spcBef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1219837" y="-1085269"/>
            <a:ext cx="2203661" cy="2203661"/>
          </a:xfrm>
          <a:custGeom>
            <a:avLst/>
            <a:gdLst/>
            <a:ahLst/>
            <a:cxnLst/>
            <a:rect r="r" b="b" t="t" l="l"/>
            <a:pathLst>
              <a:path h="2203661" w="2203661">
                <a:moveTo>
                  <a:pt x="0" y="0"/>
                </a:moveTo>
                <a:lnTo>
                  <a:pt x="2203660" y="0"/>
                </a:lnTo>
                <a:lnTo>
                  <a:pt x="2203660" y="2203661"/>
                </a:lnTo>
                <a:lnTo>
                  <a:pt x="0" y="220366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194397" y="9168608"/>
            <a:ext cx="3229101" cy="352266"/>
          </a:xfrm>
          <a:custGeom>
            <a:avLst/>
            <a:gdLst/>
            <a:ahLst/>
            <a:cxnLst/>
            <a:rect r="r" b="b" t="t" l="l"/>
            <a:pathLst>
              <a:path h="352266" w="3229101">
                <a:moveTo>
                  <a:pt x="0" y="0"/>
                </a:moveTo>
                <a:lnTo>
                  <a:pt x="3229100" y="0"/>
                </a:lnTo>
                <a:lnTo>
                  <a:pt x="3229100" y="352266"/>
                </a:lnTo>
                <a:lnTo>
                  <a:pt x="0" y="3522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577" t="-23644" r="-8939" b="-1554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916502" y="800311"/>
            <a:ext cx="342798" cy="228389"/>
          </a:xfrm>
          <a:custGeom>
            <a:avLst/>
            <a:gdLst/>
            <a:ahLst/>
            <a:cxnLst/>
            <a:rect r="r" b="b" t="t" l="l"/>
            <a:pathLst>
              <a:path h="228389" w="342798">
                <a:moveTo>
                  <a:pt x="0" y="0"/>
                </a:moveTo>
                <a:lnTo>
                  <a:pt x="342798" y="0"/>
                </a:lnTo>
                <a:lnTo>
                  <a:pt x="342798" y="228389"/>
                </a:lnTo>
                <a:lnTo>
                  <a:pt x="0" y="2283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90555" y="348142"/>
            <a:ext cx="16525946" cy="9447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12"/>
              </a:lnSpc>
            </a:pPr>
          </a:p>
          <a:p>
            <a:pPr algn="l">
              <a:lnSpc>
                <a:spcPts val="4632"/>
              </a:lnSpc>
            </a:pPr>
          </a:p>
          <a:p>
            <a:pPr algn="l">
              <a:lnSpc>
                <a:spcPts val="4942"/>
              </a:lnSpc>
            </a:pPr>
            <a:r>
              <a:rPr lang="en-US" sz="3188" spc="-127" b="true">
                <a:solidFill>
                  <a:srgbClr val="FFFFFF">
                    <a:alpha val="60000"/>
                  </a:srgbClr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We propose a **Dynamic Emergency Corridor System**.</a:t>
            </a:r>
          </a:p>
          <a:p>
            <a:pPr algn="l">
              <a:lnSpc>
                <a:spcPts val="4942"/>
              </a:lnSpc>
            </a:pPr>
          </a:p>
          <a:p>
            <a:pPr algn="l">
              <a:lnSpc>
                <a:spcPts val="3383"/>
              </a:lnSpc>
            </a:pPr>
            <a:r>
              <a:rPr lang="en-US" sz="2182" spc="-87" b="true">
                <a:solidFill>
                  <a:srgbClr val="FFFFFF">
                    <a:alpha val="60000"/>
                  </a:srgbClr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When an ambulance begins an emergency trip, the ambulance application sends its real-time location to the backend.</a:t>
            </a:r>
          </a:p>
          <a:p>
            <a:pPr algn="l">
              <a:lnSpc>
                <a:spcPts val="3383"/>
              </a:lnSpc>
            </a:pPr>
          </a:p>
          <a:p>
            <a:pPr algn="l">
              <a:lnSpc>
                <a:spcPts val="3383"/>
              </a:lnSpc>
            </a:pPr>
            <a:r>
              <a:rPr lang="en-US" sz="2182" spc="-87" b="true">
                <a:solidFill>
                  <a:srgbClr val="FFFFFF">
                    <a:alpha val="60000"/>
                  </a:srgbClr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The backend:</a:t>
            </a:r>
          </a:p>
          <a:p>
            <a:pPr algn="l">
              <a:lnSpc>
                <a:spcPts val="3383"/>
              </a:lnSpc>
            </a:pPr>
          </a:p>
          <a:p>
            <a:pPr algn="l">
              <a:lnSpc>
                <a:spcPts val="3383"/>
              </a:lnSpc>
            </a:pPr>
            <a:r>
              <a:rPr lang="en-US" sz="2182" spc="-87" b="true">
                <a:solidFill>
                  <a:srgbClr val="FFFFFF">
                    <a:alpha val="60000"/>
                  </a:srgbClr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1. Identifies the ambulance's location.</a:t>
            </a:r>
          </a:p>
          <a:p>
            <a:pPr algn="l">
              <a:lnSpc>
                <a:spcPts val="3383"/>
              </a:lnSpc>
            </a:pPr>
            <a:r>
              <a:rPr lang="en-US" sz="2182" spc="-87" b="true">
                <a:solidFill>
                  <a:srgbClr val="FFFFFF">
                    <a:alpha val="60000"/>
                  </a:srgbClr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2. Determines its direction of travel.</a:t>
            </a:r>
          </a:p>
          <a:p>
            <a:pPr algn="l">
              <a:lnSpc>
                <a:spcPts val="3383"/>
              </a:lnSpc>
            </a:pPr>
            <a:r>
              <a:rPr lang="en-US" sz="2182" spc="-87" b="true">
                <a:solidFill>
                  <a:srgbClr val="FFFFFF">
                    <a:alpha val="60000"/>
                  </a:srgbClr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3. Determines its speed.</a:t>
            </a:r>
          </a:p>
          <a:p>
            <a:pPr algn="l">
              <a:lnSpc>
                <a:spcPts val="3383"/>
              </a:lnSpc>
            </a:pPr>
            <a:r>
              <a:rPr lang="en-US" sz="2182" spc="-87" b="true">
                <a:solidFill>
                  <a:srgbClr val="FFFFFF">
                    <a:alpha val="60000"/>
                  </a:srgbClr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4. Identifies the highway segment ahead.</a:t>
            </a:r>
          </a:p>
          <a:p>
            <a:pPr algn="l">
              <a:lnSpc>
                <a:spcPts val="3383"/>
              </a:lnSpc>
            </a:pPr>
            <a:r>
              <a:rPr lang="en-US" sz="2182" spc="-87" b="true">
                <a:solidFill>
                  <a:srgbClr val="FFFFFF">
                    <a:alpha val="60000"/>
                  </a:srgbClr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5. Creates an emergency corridor.</a:t>
            </a:r>
          </a:p>
          <a:p>
            <a:pPr algn="l">
              <a:lnSpc>
                <a:spcPts val="3383"/>
              </a:lnSpc>
            </a:pPr>
            <a:r>
              <a:rPr lang="en-US" sz="2182" spc="-87" b="true">
                <a:solidFill>
                  <a:srgbClr val="FFFFFF">
                    <a:alpha val="60000"/>
                  </a:srgbClr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6. Identifies relevant vehicles inside the corridor.</a:t>
            </a:r>
          </a:p>
          <a:p>
            <a:pPr algn="l">
              <a:lnSpc>
                <a:spcPts val="3383"/>
              </a:lnSpc>
            </a:pPr>
            <a:r>
              <a:rPr lang="en-US" sz="2182" spc="-87" b="true">
                <a:solidFill>
                  <a:srgbClr val="FFFFFF">
                    <a:alpha val="60000"/>
                  </a:srgbClr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7. Sends alerts to those vehicles.</a:t>
            </a:r>
          </a:p>
          <a:p>
            <a:pPr algn="l">
              <a:lnSpc>
                <a:spcPts val="3383"/>
              </a:lnSpc>
            </a:pPr>
            <a:r>
              <a:rPr lang="en-US" sz="2182" spc="-87" b="true">
                <a:solidFill>
                  <a:srgbClr val="FFFFFF">
                    <a:alpha val="60000"/>
                  </a:srgbClr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8. Notifies traffic police.</a:t>
            </a:r>
          </a:p>
          <a:p>
            <a:pPr algn="l">
              <a:lnSpc>
                <a:spcPts val="3383"/>
              </a:lnSpc>
            </a:pPr>
            <a:r>
              <a:rPr lang="en-US" sz="2182" spc="-87" b="true">
                <a:solidFill>
                  <a:srgbClr val="FFFFFF">
                    <a:alpha val="60000"/>
                  </a:srgbClr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9. Continuously updates the corridor as the ambulance moves.</a:t>
            </a:r>
          </a:p>
          <a:p>
            <a:pPr algn="l">
              <a:lnSpc>
                <a:spcPts val="3383"/>
              </a:lnSpc>
            </a:pPr>
            <a:r>
              <a:rPr lang="en-US" sz="2182" spc="-87" b="true">
                <a:solidFill>
                  <a:srgbClr val="FFFFFF">
                    <a:alpha val="60000"/>
                  </a:srgbClr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10. Removes the emergency corridor after the ambulance passes.</a:t>
            </a:r>
          </a:p>
          <a:p>
            <a:pPr algn="l">
              <a:lnSpc>
                <a:spcPts val="3383"/>
              </a:lnSpc>
            </a:pPr>
          </a:p>
          <a:p>
            <a:pPr algn="l">
              <a:lnSpc>
                <a:spcPts val="3383"/>
              </a:lnSpc>
            </a:pPr>
            <a:r>
              <a:rPr lang="en-US" sz="2182" spc="-87" b="true">
                <a:solidFill>
                  <a:srgbClr val="FFFFFF">
                    <a:alpha val="60000"/>
                  </a:srgbClr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The initial prototype uses a **500-metre alert corridor**</a:t>
            </a:r>
            <a:r>
              <a:rPr lang="en-US" sz="2182" spc="-87">
                <a:solidFill>
                  <a:srgbClr val="FFFFFF">
                    <a:alpha val="6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.</a:t>
            </a:r>
          </a:p>
          <a:p>
            <a:pPr algn="l">
              <a:lnSpc>
                <a:spcPts val="879"/>
              </a:lnSpc>
            </a:pPr>
          </a:p>
          <a:p>
            <a:pPr algn="l" marL="0" indent="0" lvl="0">
              <a:lnSpc>
                <a:spcPts val="879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653969" y="20849"/>
            <a:ext cx="11762577" cy="1387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200"/>
              </a:lnSpc>
              <a:spcBef>
                <a:spcPct val="0"/>
              </a:spcBef>
            </a:pPr>
            <a:r>
              <a:rPr lang="en-US" sz="8000">
                <a:solidFill>
                  <a:srgbClr val="FFFFFF"/>
                </a:solidFill>
                <a:latin typeface="RQND Pro Medium"/>
                <a:ea typeface="RQND Pro Medium"/>
                <a:cs typeface="RQND Pro Medium"/>
                <a:sym typeface="RQND Pro Medium"/>
              </a:rPr>
              <a:t>PROPOSED SOLIUTION</a:t>
            </a:r>
            <a:r>
              <a:rPr lang="en-US" sz="8000" strike="noStrike" u="none">
                <a:solidFill>
                  <a:srgbClr val="FFFFFF"/>
                </a:solidFill>
                <a:latin typeface="RQND Pro Medium"/>
                <a:ea typeface="RQND Pro Medium"/>
                <a:cs typeface="RQND Pro Medium"/>
                <a:sym typeface="RQND Pro Medium"/>
              </a:rPr>
              <a:t>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605083" y="649393"/>
            <a:ext cx="699196" cy="41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100"/>
              </a:lnSpc>
              <a:spcBef>
                <a:spcPct val="0"/>
              </a:spcBef>
            </a:pPr>
            <a:r>
              <a:rPr lang="en-US" sz="2000" spc="-80">
                <a:solidFill>
                  <a:srgbClr val="FFFFFF">
                    <a:alpha val="60000"/>
                  </a:srgbClr>
                </a:solidFill>
                <a:latin typeface="Codec Pro"/>
                <a:ea typeface="Codec Pro"/>
                <a:cs typeface="Codec Pro"/>
                <a:sym typeface="Codec Pro"/>
              </a:rPr>
              <a:t>Menu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529143" y="-1101830"/>
            <a:ext cx="2203661" cy="2203661"/>
          </a:xfrm>
          <a:custGeom>
            <a:avLst/>
            <a:gdLst/>
            <a:ahLst/>
            <a:cxnLst/>
            <a:rect r="r" b="b" t="t" l="l"/>
            <a:pathLst>
              <a:path h="2203661" w="2203661">
                <a:moveTo>
                  <a:pt x="0" y="0"/>
                </a:moveTo>
                <a:lnTo>
                  <a:pt x="2203660" y="0"/>
                </a:lnTo>
                <a:lnTo>
                  <a:pt x="2203660" y="2203660"/>
                </a:lnTo>
                <a:lnTo>
                  <a:pt x="0" y="22036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412134" y="9355801"/>
            <a:ext cx="3742277" cy="408248"/>
          </a:xfrm>
          <a:custGeom>
            <a:avLst/>
            <a:gdLst/>
            <a:ahLst/>
            <a:cxnLst/>
            <a:rect r="r" b="b" t="t" l="l"/>
            <a:pathLst>
              <a:path h="408248" w="3742277">
                <a:moveTo>
                  <a:pt x="0" y="0"/>
                </a:moveTo>
                <a:lnTo>
                  <a:pt x="3742278" y="0"/>
                </a:lnTo>
                <a:lnTo>
                  <a:pt x="3742278" y="408248"/>
                </a:lnTo>
                <a:lnTo>
                  <a:pt x="0" y="40824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577" t="-23644" r="-8939" b="-1554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711660" y="2872567"/>
            <a:ext cx="2968789" cy="2736685"/>
            <a:chOff x="0" y="0"/>
            <a:chExt cx="459943" cy="42398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9943" cy="423984"/>
            </a:xfrm>
            <a:custGeom>
              <a:avLst/>
              <a:gdLst/>
              <a:ahLst/>
              <a:cxnLst/>
              <a:rect r="r" b="b" t="t" l="l"/>
              <a:pathLst>
                <a:path h="423984" w="459943">
                  <a:moveTo>
                    <a:pt x="104311" y="0"/>
                  </a:moveTo>
                  <a:lnTo>
                    <a:pt x="355632" y="0"/>
                  </a:lnTo>
                  <a:cubicBezTo>
                    <a:pt x="413241" y="0"/>
                    <a:pt x="459943" y="46702"/>
                    <a:pt x="459943" y="104311"/>
                  </a:cubicBezTo>
                  <a:lnTo>
                    <a:pt x="459943" y="319673"/>
                  </a:lnTo>
                  <a:cubicBezTo>
                    <a:pt x="459943" y="377283"/>
                    <a:pt x="413241" y="423984"/>
                    <a:pt x="355632" y="423984"/>
                  </a:cubicBezTo>
                  <a:lnTo>
                    <a:pt x="104311" y="423984"/>
                  </a:lnTo>
                  <a:cubicBezTo>
                    <a:pt x="46702" y="423984"/>
                    <a:pt x="0" y="377283"/>
                    <a:pt x="0" y="319673"/>
                  </a:cubicBezTo>
                  <a:lnTo>
                    <a:pt x="0" y="104311"/>
                  </a:lnTo>
                  <a:cubicBezTo>
                    <a:pt x="0" y="46702"/>
                    <a:pt x="46702" y="0"/>
                    <a:pt x="104311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42564" r="0" b="-20259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6916502" y="800311"/>
            <a:ext cx="342798" cy="228389"/>
          </a:xfrm>
          <a:custGeom>
            <a:avLst/>
            <a:gdLst/>
            <a:ahLst/>
            <a:cxnLst/>
            <a:rect r="r" b="b" t="t" l="l"/>
            <a:pathLst>
              <a:path h="228389" w="342798">
                <a:moveTo>
                  <a:pt x="0" y="0"/>
                </a:moveTo>
                <a:lnTo>
                  <a:pt x="342798" y="0"/>
                </a:lnTo>
                <a:lnTo>
                  <a:pt x="342798" y="228389"/>
                </a:lnTo>
                <a:lnTo>
                  <a:pt x="0" y="2283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219837" y="-1085269"/>
            <a:ext cx="2203661" cy="2203661"/>
          </a:xfrm>
          <a:custGeom>
            <a:avLst/>
            <a:gdLst/>
            <a:ahLst/>
            <a:cxnLst/>
            <a:rect r="r" b="b" t="t" l="l"/>
            <a:pathLst>
              <a:path h="2203661" w="2203661">
                <a:moveTo>
                  <a:pt x="0" y="0"/>
                </a:moveTo>
                <a:lnTo>
                  <a:pt x="2203660" y="0"/>
                </a:lnTo>
                <a:lnTo>
                  <a:pt x="2203660" y="2203661"/>
                </a:lnTo>
                <a:lnTo>
                  <a:pt x="0" y="22036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711660" y="5143500"/>
            <a:ext cx="931504" cy="931504"/>
          </a:xfrm>
          <a:custGeom>
            <a:avLst/>
            <a:gdLst/>
            <a:ahLst/>
            <a:cxnLst/>
            <a:rect r="r" b="b" t="t" l="l"/>
            <a:pathLst>
              <a:path h="931504" w="931504">
                <a:moveTo>
                  <a:pt x="0" y="0"/>
                </a:moveTo>
                <a:lnTo>
                  <a:pt x="931504" y="0"/>
                </a:lnTo>
                <a:lnTo>
                  <a:pt x="931504" y="931504"/>
                </a:lnTo>
                <a:lnTo>
                  <a:pt x="0" y="9315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823778" y="2455841"/>
            <a:ext cx="3742277" cy="408248"/>
          </a:xfrm>
          <a:custGeom>
            <a:avLst/>
            <a:gdLst/>
            <a:ahLst/>
            <a:cxnLst/>
            <a:rect r="r" b="b" t="t" l="l"/>
            <a:pathLst>
              <a:path h="408248" w="3742277">
                <a:moveTo>
                  <a:pt x="0" y="0"/>
                </a:moveTo>
                <a:lnTo>
                  <a:pt x="3742277" y="0"/>
                </a:lnTo>
                <a:lnTo>
                  <a:pt x="3742277" y="408248"/>
                </a:lnTo>
                <a:lnTo>
                  <a:pt x="0" y="40824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037487" y="9355801"/>
            <a:ext cx="3742277" cy="408248"/>
          </a:xfrm>
          <a:custGeom>
            <a:avLst/>
            <a:gdLst/>
            <a:ahLst/>
            <a:cxnLst/>
            <a:rect r="r" b="b" t="t" l="l"/>
            <a:pathLst>
              <a:path h="408248" w="3742277">
                <a:moveTo>
                  <a:pt x="0" y="0"/>
                </a:moveTo>
                <a:lnTo>
                  <a:pt x="3742278" y="0"/>
                </a:lnTo>
                <a:lnTo>
                  <a:pt x="3742278" y="408248"/>
                </a:lnTo>
                <a:lnTo>
                  <a:pt x="0" y="40824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5599689" y="1028700"/>
            <a:ext cx="12494967" cy="7884472"/>
            <a:chOff x="0" y="0"/>
            <a:chExt cx="1935797" cy="122151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35797" cy="1221511"/>
            </a:xfrm>
            <a:custGeom>
              <a:avLst/>
              <a:gdLst/>
              <a:ahLst/>
              <a:cxnLst/>
              <a:rect r="r" b="b" t="t" l="l"/>
              <a:pathLst>
                <a:path h="1221511" w="1935797">
                  <a:moveTo>
                    <a:pt x="24784" y="0"/>
                  </a:moveTo>
                  <a:lnTo>
                    <a:pt x="1911013" y="0"/>
                  </a:lnTo>
                  <a:cubicBezTo>
                    <a:pt x="1917586" y="0"/>
                    <a:pt x="1923890" y="2611"/>
                    <a:pt x="1928538" y="7259"/>
                  </a:cubicBezTo>
                  <a:cubicBezTo>
                    <a:pt x="1933186" y="11907"/>
                    <a:pt x="1935797" y="18211"/>
                    <a:pt x="1935797" y="24784"/>
                  </a:cubicBezTo>
                  <a:lnTo>
                    <a:pt x="1935797" y="1196727"/>
                  </a:lnTo>
                  <a:cubicBezTo>
                    <a:pt x="1935797" y="1203300"/>
                    <a:pt x="1933186" y="1209604"/>
                    <a:pt x="1928538" y="1214252"/>
                  </a:cubicBezTo>
                  <a:cubicBezTo>
                    <a:pt x="1923890" y="1218900"/>
                    <a:pt x="1917586" y="1221511"/>
                    <a:pt x="1911013" y="1221511"/>
                  </a:cubicBezTo>
                  <a:lnTo>
                    <a:pt x="24784" y="1221511"/>
                  </a:lnTo>
                  <a:cubicBezTo>
                    <a:pt x="18211" y="1221511"/>
                    <a:pt x="11907" y="1218900"/>
                    <a:pt x="7259" y="1214252"/>
                  </a:cubicBezTo>
                  <a:cubicBezTo>
                    <a:pt x="2611" y="1209604"/>
                    <a:pt x="0" y="1203300"/>
                    <a:pt x="0" y="1196727"/>
                  </a:cubicBezTo>
                  <a:lnTo>
                    <a:pt x="0" y="24784"/>
                  </a:lnTo>
                  <a:cubicBezTo>
                    <a:pt x="0" y="18211"/>
                    <a:pt x="2611" y="11907"/>
                    <a:pt x="7259" y="7259"/>
                  </a:cubicBezTo>
                  <a:cubicBezTo>
                    <a:pt x="11907" y="2611"/>
                    <a:pt x="18211" y="0"/>
                    <a:pt x="24784" y="0"/>
                  </a:cubicBezTo>
                  <a:close/>
                </a:path>
              </a:pathLst>
            </a:custGeom>
            <a:blipFill>
              <a:blip r:embed="rId10"/>
              <a:stretch>
                <a:fillRect l="0" t="-2825" r="0" b="-2825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-2219824" y="301372"/>
            <a:ext cx="10258311" cy="9982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5"/>
              </a:lnSpc>
              <a:spcBef>
                <a:spcPct val="0"/>
              </a:spcBef>
            </a:pPr>
            <a:r>
              <a:rPr lang="en-US" sz="1700" spc="-6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The complete workflow is:</a:t>
            </a:r>
          </a:p>
          <a:p>
            <a:pPr algn="ctr">
              <a:lnSpc>
                <a:spcPts val="2635"/>
              </a:lnSpc>
              <a:spcBef>
                <a:spcPct val="0"/>
              </a:spcBef>
            </a:pPr>
          </a:p>
          <a:p>
            <a:pPr algn="ctr">
              <a:lnSpc>
                <a:spcPts val="2635"/>
              </a:lnSpc>
              <a:spcBef>
                <a:spcPct val="0"/>
              </a:spcBef>
            </a:pPr>
            <a:r>
              <a:rPr lang="en-US" sz="1700" spc="-6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```text</a:t>
            </a:r>
          </a:p>
          <a:p>
            <a:pPr algn="ctr">
              <a:lnSpc>
                <a:spcPts val="2635"/>
              </a:lnSpc>
              <a:spcBef>
                <a:spcPct val="0"/>
              </a:spcBef>
            </a:pPr>
            <a:r>
              <a:rPr lang="en-US" sz="1700" spc="-6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Ambulance Starts Emergency</a:t>
            </a:r>
          </a:p>
          <a:p>
            <a:pPr algn="ctr">
              <a:lnSpc>
                <a:spcPts val="2635"/>
              </a:lnSpc>
              <a:spcBef>
                <a:spcPct val="0"/>
              </a:spcBef>
            </a:pPr>
            <a:r>
              <a:rPr lang="en-US" sz="1700" spc="-6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         ↓</a:t>
            </a:r>
          </a:p>
          <a:p>
            <a:pPr algn="ctr">
              <a:lnSpc>
                <a:spcPts val="2635"/>
              </a:lnSpc>
              <a:spcBef>
                <a:spcPct val="0"/>
              </a:spcBef>
            </a:pPr>
            <a:r>
              <a:rPr lang="en-US" sz="1700" spc="-6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GPS Activated</a:t>
            </a:r>
          </a:p>
          <a:p>
            <a:pPr algn="ctr">
              <a:lnSpc>
                <a:spcPts val="2635"/>
              </a:lnSpc>
              <a:spcBef>
                <a:spcPct val="0"/>
              </a:spcBef>
            </a:pPr>
            <a:r>
              <a:rPr lang="en-US" sz="1700" spc="-6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         ↓</a:t>
            </a:r>
          </a:p>
          <a:p>
            <a:pPr algn="ctr">
              <a:lnSpc>
                <a:spcPts val="2635"/>
              </a:lnSpc>
              <a:spcBef>
                <a:spcPct val="0"/>
              </a:spcBef>
            </a:pPr>
            <a:r>
              <a:rPr lang="en-US" sz="1700" spc="-6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Location Sent to Backend</a:t>
            </a:r>
          </a:p>
          <a:p>
            <a:pPr algn="ctr">
              <a:lnSpc>
                <a:spcPts val="2635"/>
              </a:lnSpc>
              <a:spcBef>
                <a:spcPct val="0"/>
              </a:spcBef>
            </a:pPr>
            <a:r>
              <a:rPr lang="en-US" sz="1700" spc="-6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         ↓</a:t>
            </a:r>
          </a:p>
          <a:p>
            <a:pPr algn="ctr">
              <a:lnSpc>
                <a:spcPts val="2635"/>
              </a:lnSpc>
              <a:spcBef>
                <a:spcPct val="0"/>
              </a:spcBef>
            </a:pPr>
            <a:r>
              <a:rPr lang="en-US" sz="1700" spc="-6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Ambulance Direction Identified</a:t>
            </a:r>
          </a:p>
          <a:p>
            <a:pPr algn="ctr">
              <a:lnSpc>
                <a:spcPts val="2635"/>
              </a:lnSpc>
              <a:spcBef>
                <a:spcPct val="0"/>
              </a:spcBef>
            </a:pPr>
            <a:r>
              <a:rPr lang="en-US" sz="1700" spc="-6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         ↓</a:t>
            </a:r>
          </a:p>
          <a:p>
            <a:pPr algn="ctr">
              <a:lnSpc>
                <a:spcPts val="2635"/>
              </a:lnSpc>
              <a:spcBef>
                <a:spcPct val="0"/>
              </a:spcBef>
            </a:pPr>
            <a:r>
              <a:rPr lang="en-US" sz="1700" spc="-6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Emergency Corridor Created</a:t>
            </a:r>
          </a:p>
          <a:p>
            <a:pPr algn="ctr">
              <a:lnSpc>
                <a:spcPts val="2635"/>
              </a:lnSpc>
              <a:spcBef>
                <a:spcPct val="0"/>
              </a:spcBef>
            </a:pPr>
            <a:r>
              <a:rPr lang="en-US" sz="1700" spc="-6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         ↓</a:t>
            </a:r>
          </a:p>
          <a:p>
            <a:pPr algn="ctr">
              <a:lnSpc>
                <a:spcPts val="2635"/>
              </a:lnSpc>
              <a:spcBef>
                <a:spcPct val="0"/>
              </a:spcBef>
            </a:pPr>
            <a:r>
              <a:rPr lang="en-US" sz="1700" spc="-6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Vehicles in Corridor Identified</a:t>
            </a:r>
          </a:p>
          <a:p>
            <a:pPr algn="ctr">
              <a:lnSpc>
                <a:spcPts val="2635"/>
              </a:lnSpc>
              <a:spcBef>
                <a:spcPct val="0"/>
              </a:spcBef>
            </a:pPr>
            <a:r>
              <a:rPr lang="en-US" sz="1700" spc="-6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         ↓</a:t>
            </a:r>
          </a:p>
          <a:p>
            <a:pPr algn="ctr">
              <a:lnSpc>
                <a:spcPts val="2635"/>
              </a:lnSpc>
              <a:spcBef>
                <a:spcPct val="0"/>
              </a:spcBef>
            </a:pPr>
            <a:r>
              <a:rPr lang="en-US" sz="1700" spc="-6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Driver Alerts Sent</a:t>
            </a:r>
          </a:p>
          <a:p>
            <a:pPr algn="ctr">
              <a:lnSpc>
                <a:spcPts val="2635"/>
              </a:lnSpc>
              <a:spcBef>
                <a:spcPct val="0"/>
              </a:spcBef>
            </a:pPr>
            <a:r>
              <a:rPr lang="en-US" sz="1700" spc="-6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         ↓</a:t>
            </a:r>
          </a:p>
          <a:p>
            <a:pPr algn="ctr">
              <a:lnSpc>
                <a:spcPts val="2635"/>
              </a:lnSpc>
              <a:spcBef>
                <a:spcPct val="0"/>
              </a:spcBef>
            </a:pPr>
            <a:r>
              <a:rPr lang="en-US" sz="1700" spc="-6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Traffic Police Notified</a:t>
            </a:r>
          </a:p>
          <a:p>
            <a:pPr algn="ctr">
              <a:lnSpc>
                <a:spcPts val="2635"/>
              </a:lnSpc>
              <a:spcBef>
                <a:spcPct val="0"/>
              </a:spcBef>
            </a:pPr>
            <a:r>
              <a:rPr lang="en-US" sz="1700" spc="-6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         ↓</a:t>
            </a:r>
          </a:p>
          <a:p>
            <a:pPr algn="ctr">
              <a:lnSpc>
                <a:spcPts val="2635"/>
              </a:lnSpc>
              <a:spcBef>
                <a:spcPct val="0"/>
              </a:spcBef>
            </a:pPr>
            <a:r>
              <a:rPr lang="en-US" sz="1700" spc="-6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Traffic Corridor Cleared</a:t>
            </a:r>
          </a:p>
          <a:p>
            <a:pPr algn="ctr">
              <a:lnSpc>
                <a:spcPts val="2635"/>
              </a:lnSpc>
              <a:spcBef>
                <a:spcPct val="0"/>
              </a:spcBef>
            </a:pPr>
            <a:r>
              <a:rPr lang="en-US" sz="1700" spc="-6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         ↓</a:t>
            </a:r>
          </a:p>
          <a:p>
            <a:pPr algn="ctr">
              <a:lnSpc>
                <a:spcPts val="2635"/>
              </a:lnSpc>
              <a:spcBef>
                <a:spcPct val="0"/>
              </a:spcBef>
            </a:pPr>
            <a:r>
              <a:rPr lang="en-US" sz="1700" spc="-6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Ambulance Passes</a:t>
            </a:r>
          </a:p>
          <a:p>
            <a:pPr algn="ctr">
              <a:lnSpc>
                <a:spcPts val="2635"/>
              </a:lnSpc>
              <a:spcBef>
                <a:spcPct val="0"/>
              </a:spcBef>
            </a:pPr>
            <a:r>
              <a:rPr lang="en-US" sz="1700" spc="-6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         ↓</a:t>
            </a:r>
          </a:p>
          <a:p>
            <a:pPr algn="ctr">
              <a:lnSpc>
                <a:spcPts val="2635"/>
              </a:lnSpc>
              <a:spcBef>
                <a:spcPct val="0"/>
              </a:spcBef>
            </a:pPr>
            <a:r>
              <a:rPr lang="en-US" sz="1700" spc="-6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Emergency Corridor Updated</a:t>
            </a:r>
          </a:p>
          <a:p>
            <a:pPr algn="ctr">
              <a:lnSpc>
                <a:spcPts val="2635"/>
              </a:lnSpc>
              <a:spcBef>
                <a:spcPct val="0"/>
              </a:spcBef>
            </a:pPr>
            <a:r>
              <a:rPr lang="en-US" sz="1700" spc="-6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         ↓</a:t>
            </a:r>
          </a:p>
          <a:p>
            <a:pPr algn="ctr">
              <a:lnSpc>
                <a:spcPts val="2635"/>
              </a:lnSpc>
              <a:spcBef>
                <a:spcPct val="0"/>
              </a:spcBef>
            </a:pPr>
            <a:r>
              <a:rPr lang="en-US" sz="1700" spc="-6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Ambulance Leaves Area</a:t>
            </a:r>
          </a:p>
          <a:p>
            <a:pPr algn="ctr">
              <a:lnSpc>
                <a:spcPts val="2635"/>
              </a:lnSpc>
              <a:spcBef>
                <a:spcPct val="0"/>
              </a:spcBef>
            </a:pPr>
            <a:r>
              <a:rPr lang="en-US" sz="1700" spc="-6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         ↓</a:t>
            </a:r>
          </a:p>
          <a:p>
            <a:pPr algn="ctr">
              <a:lnSpc>
                <a:spcPts val="2635"/>
              </a:lnSpc>
              <a:spcBef>
                <a:spcPct val="0"/>
              </a:spcBef>
            </a:pPr>
            <a:r>
              <a:rPr lang="en-US" sz="1700" spc="-6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Alerts Deactivated</a:t>
            </a:r>
          </a:p>
          <a:p>
            <a:pPr algn="ctr">
              <a:lnSpc>
                <a:spcPts val="2635"/>
              </a:lnSpc>
              <a:spcBef>
                <a:spcPct val="0"/>
              </a:spcBef>
            </a:pPr>
            <a:r>
              <a:rPr lang="en-US" sz="1700" spc="-6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```</a:t>
            </a:r>
          </a:p>
          <a:p>
            <a:pPr algn="ctr">
              <a:lnSpc>
                <a:spcPts val="263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577" t="-23644" r="-8939" b="-15547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4054225" y="5592072"/>
            <a:ext cx="218789" cy="416381"/>
          </a:xfrm>
          <a:custGeom>
            <a:avLst/>
            <a:gdLst/>
            <a:ahLst/>
            <a:cxnLst/>
            <a:rect r="r" b="b" t="t" l="l"/>
            <a:pathLst>
              <a:path h="416381" w="218789">
                <a:moveTo>
                  <a:pt x="218790" y="0"/>
                </a:moveTo>
                <a:lnTo>
                  <a:pt x="0" y="0"/>
                </a:lnTo>
                <a:lnTo>
                  <a:pt x="0" y="416381"/>
                </a:lnTo>
                <a:lnTo>
                  <a:pt x="218790" y="416381"/>
                </a:lnTo>
                <a:lnTo>
                  <a:pt x="21879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916502" y="800311"/>
            <a:ext cx="342798" cy="228389"/>
          </a:xfrm>
          <a:custGeom>
            <a:avLst/>
            <a:gdLst/>
            <a:ahLst/>
            <a:cxnLst/>
            <a:rect r="r" b="b" t="t" l="l"/>
            <a:pathLst>
              <a:path h="228389" w="342798">
                <a:moveTo>
                  <a:pt x="0" y="0"/>
                </a:moveTo>
                <a:lnTo>
                  <a:pt x="342798" y="0"/>
                </a:lnTo>
                <a:lnTo>
                  <a:pt x="342798" y="228389"/>
                </a:lnTo>
                <a:lnTo>
                  <a:pt x="0" y="22838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30626" y="611293"/>
            <a:ext cx="12451246" cy="6852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48"/>
              </a:lnSpc>
            </a:pPr>
            <a:r>
              <a:rPr lang="en-US" sz="2934" b="true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✅ Advantages</a:t>
            </a:r>
          </a:p>
          <a:p>
            <a:pPr algn="l" marL="633567" indent="-316784" lvl="1">
              <a:lnSpc>
                <a:spcPts val="4548"/>
              </a:lnSpc>
              <a:buAutoNum type="arabicPeriod" startAt="1"/>
            </a:pPr>
            <a:r>
              <a:rPr lang="en-US" b="true" sz="2934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Faster ambulance movement – Helps reduce delays in traffic.</a:t>
            </a:r>
          </a:p>
          <a:p>
            <a:pPr algn="l" marL="633567" indent="-316784" lvl="1">
              <a:lnSpc>
                <a:spcPts val="4548"/>
              </a:lnSpc>
              <a:buAutoNum type="arabicPeriod" startAt="1"/>
            </a:pPr>
            <a:r>
              <a:rPr lang="en-US" b="true" sz="2934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Advance warning – Drivers get alerts before the ambulance arrives.</a:t>
            </a:r>
          </a:p>
          <a:p>
            <a:pPr algn="l" marL="633567" indent="-316784" lvl="1">
              <a:lnSpc>
                <a:spcPts val="4548"/>
              </a:lnSpc>
              <a:buAutoNum type="arabicPeriod" startAt="1"/>
            </a:pPr>
            <a:r>
              <a:rPr lang="en-US" b="true" sz="2934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Automatic corridor creation – Creates a temporary emergency zone around the ambulance.</a:t>
            </a:r>
          </a:p>
          <a:p>
            <a:pPr algn="l" marL="698336" indent="-349168" lvl="1">
              <a:lnSpc>
                <a:spcPts val="5013"/>
              </a:lnSpc>
              <a:buAutoNum type="arabicPeriod" startAt="1"/>
            </a:pPr>
            <a:r>
              <a:rPr lang="en-US" b="true" sz="3234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Real-time tracking – GPS continuously tracks ambulance location and direction.</a:t>
            </a:r>
          </a:p>
          <a:p>
            <a:pPr algn="l" marL="719925" indent="-359963" lvl="1">
              <a:lnSpc>
                <a:spcPts val="5168"/>
              </a:lnSpc>
              <a:buAutoNum type="arabicPeriod" startAt="1"/>
            </a:pPr>
            <a:r>
              <a:rPr lang="en-US" b="true" sz="3334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Traffic police support – Police receive alerts to manage traffic.</a:t>
            </a:r>
          </a:p>
          <a:p>
            <a:pPr algn="l" marL="0" indent="0" lvl="0">
              <a:lnSpc>
                <a:spcPts val="6873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3423497" y="9144000"/>
            <a:ext cx="3835803" cy="41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100"/>
              </a:lnSpc>
              <a:spcBef>
                <a:spcPct val="0"/>
              </a:spcBef>
            </a:pPr>
            <a:r>
              <a:rPr lang="en-US" sz="2000" spc="-80">
                <a:solidFill>
                  <a:srgbClr val="FFFFFF">
                    <a:alpha val="60000"/>
                  </a:srgbClr>
                </a:solidFill>
                <a:latin typeface="Codec Pro"/>
                <a:ea typeface="Codec Pro"/>
                <a:cs typeface="Codec Pro"/>
                <a:sym typeface="Codec Pro"/>
              </a:rPr>
              <a:t>Innovative AI Presentation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605083" y="649393"/>
            <a:ext cx="699196" cy="41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100"/>
              </a:lnSpc>
              <a:spcBef>
                <a:spcPct val="0"/>
              </a:spcBef>
            </a:pPr>
            <a:r>
              <a:rPr lang="en-US" sz="2000" spc="-80">
                <a:solidFill>
                  <a:srgbClr val="FFFFFF">
                    <a:alpha val="60000"/>
                  </a:srgbClr>
                </a:solidFill>
                <a:latin typeface="Codec Pro"/>
                <a:ea typeface="Codec Pro"/>
                <a:cs typeface="Codec Pro"/>
                <a:sym typeface="Codec Pro"/>
              </a:rPr>
              <a:t>Menu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5045363" y="2492976"/>
            <a:ext cx="3742277" cy="408248"/>
          </a:xfrm>
          <a:custGeom>
            <a:avLst/>
            <a:gdLst/>
            <a:ahLst/>
            <a:cxnLst/>
            <a:rect r="r" b="b" t="t" l="l"/>
            <a:pathLst>
              <a:path h="408248" w="3742277">
                <a:moveTo>
                  <a:pt x="0" y="0"/>
                </a:moveTo>
                <a:lnTo>
                  <a:pt x="3742277" y="0"/>
                </a:lnTo>
                <a:lnTo>
                  <a:pt x="3742277" y="408248"/>
                </a:lnTo>
                <a:lnTo>
                  <a:pt x="0" y="40824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685688" y="9258300"/>
            <a:ext cx="3742277" cy="408248"/>
          </a:xfrm>
          <a:custGeom>
            <a:avLst/>
            <a:gdLst/>
            <a:ahLst/>
            <a:cxnLst/>
            <a:rect r="r" b="b" t="t" l="l"/>
            <a:pathLst>
              <a:path h="408248" w="3742277">
                <a:moveTo>
                  <a:pt x="0" y="0"/>
                </a:moveTo>
                <a:lnTo>
                  <a:pt x="3742277" y="0"/>
                </a:lnTo>
                <a:lnTo>
                  <a:pt x="3742277" y="408248"/>
                </a:lnTo>
                <a:lnTo>
                  <a:pt x="0" y="40824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427965" y="-2144532"/>
            <a:ext cx="4014545" cy="4014545"/>
          </a:xfrm>
          <a:custGeom>
            <a:avLst/>
            <a:gdLst/>
            <a:ahLst/>
            <a:cxnLst/>
            <a:rect r="r" b="b" t="t" l="l"/>
            <a:pathLst>
              <a:path h="4014545" w="4014545">
                <a:moveTo>
                  <a:pt x="0" y="0"/>
                </a:moveTo>
                <a:lnTo>
                  <a:pt x="4014545" y="0"/>
                </a:lnTo>
                <a:lnTo>
                  <a:pt x="4014545" y="4014545"/>
                </a:lnTo>
                <a:lnTo>
                  <a:pt x="0" y="401454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577" t="-23644" r="-8939" b="-1554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916502" y="800311"/>
            <a:ext cx="342798" cy="228389"/>
          </a:xfrm>
          <a:custGeom>
            <a:avLst/>
            <a:gdLst/>
            <a:ahLst/>
            <a:cxnLst/>
            <a:rect r="r" b="b" t="t" l="l"/>
            <a:pathLst>
              <a:path h="228389" w="342798">
                <a:moveTo>
                  <a:pt x="0" y="0"/>
                </a:moveTo>
                <a:lnTo>
                  <a:pt x="342798" y="0"/>
                </a:lnTo>
                <a:lnTo>
                  <a:pt x="342798" y="228389"/>
                </a:lnTo>
                <a:lnTo>
                  <a:pt x="0" y="2283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965707" y="7274590"/>
            <a:ext cx="1813988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24"/>
              </a:lnSpc>
              <a:spcBef>
                <a:spcPct val="0"/>
              </a:spcBef>
            </a:pPr>
            <a:r>
              <a:rPr lang="en-US" b="true" sz="2499">
                <a:solidFill>
                  <a:srgbClr val="0A1A2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I</a:t>
            </a:r>
            <a:r>
              <a:rPr lang="en-US" b="true" sz="2499" strike="noStrike" u="none">
                <a:solidFill>
                  <a:srgbClr val="0A1A2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ntelligen</a:t>
            </a:r>
            <a:r>
              <a:rPr lang="en-US" b="true" sz="2499" strike="noStrike" u="none">
                <a:solidFill>
                  <a:srgbClr val="0A1A2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</a:t>
            </a:r>
            <a:r>
              <a:rPr lang="en-US" b="true" sz="2499" strike="noStrike" u="none">
                <a:solidFill>
                  <a:srgbClr val="0A1A2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US" b="true" sz="2499" strike="noStrike" u="none">
                <a:solidFill>
                  <a:srgbClr val="0A1A2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Syst</a:t>
            </a:r>
            <a:r>
              <a:rPr lang="en-US" b="true" sz="2499" strike="noStrike" u="none">
                <a:solidFill>
                  <a:srgbClr val="0A1A2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</a:t>
            </a:r>
            <a:r>
              <a:rPr lang="en-US" b="true" sz="2499" strike="noStrike" u="none">
                <a:solidFill>
                  <a:srgbClr val="0A1A2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</a:t>
            </a:r>
            <a:r>
              <a:rPr lang="en-US" b="true" sz="2499" strike="noStrike" u="none">
                <a:solidFill>
                  <a:srgbClr val="0A1A2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81466" y="109889"/>
            <a:ext cx="16806434" cy="9727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4"/>
              </a:lnSpc>
            </a:pPr>
            <a:r>
              <a:rPr lang="en-US" sz="296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 . </a:t>
            </a:r>
            <a:r>
              <a:rPr lang="en-US" b="true" sz="2960" u="sng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FEASIBILITY</a:t>
            </a:r>
          </a:p>
          <a:p>
            <a:pPr algn="l">
              <a:lnSpc>
                <a:spcPts val="4144"/>
              </a:lnSpc>
            </a:pPr>
            <a:r>
              <a:rPr lang="en-US" sz="296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 </a:t>
            </a:r>
            <a:r>
              <a:rPr lang="en-US" sz="296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Technical Feasibility</a:t>
            </a:r>
          </a:p>
          <a:p>
            <a:pPr algn="l" marL="639131" indent="-319565" lvl="1">
              <a:lnSpc>
                <a:spcPts val="4144"/>
              </a:lnSpc>
              <a:buFont typeface="Arial"/>
              <a:buChar char="•"/>
            </a:pPr>
            <a:r>
              <a:rPr lang="en-US" sz="296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GPS can track the ambulance location, speed, and direction.</a:t>
            </a:r>
          </a:p>
          <a:p>
            <a:pPr algn="l" marL="639131" indent="-319565" lvl="1">
              <a:lnSpc>
                <a:spcPts val="4144"/>
              </a:lnSpc>
              <a:buFont typeface="Arial"/>
              <a:buChar char="•"/>
            </a:pPr>
            <a:r>
              <a:rPr lang="en-US" sz="296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ESP32 can be used for the prototype traffic signal.</a:t>
            </a:r>
          </a:p>
          <a:p>
            <a:pPr algn="l" marL="639131" indent="-319565" lvl="1">
              <a:lnSpc>
                <a:spcPts val="4144"/>
              </a:lnSpc>
              <a:buFont typeface="Arial"/>
              <a:buChar char="•"/>
            </a:pPr>
            <a:r>
              <a:rPr lang="en-US" sz="296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Firebase can handle real-time location and alert data.</a:t>
            </a:r>
          </a:p>
          <a:p>
            <a:pPr algn="l" marL="639131" indent="-319565" lvl="1">
              <a:lnSpc>
                <a:spcPts val="4144"/>
              </a:lnSpc>
              <a:buFont typeface="Arial"/>
              <a:buChar char="•"/>
            </a:pPr>
            <a:r>
              <a:rPr lang="en-US" sz="296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Mobile notifications can warn nearby drivers.</a:t>
            </a:r>
          </a:p>
          <a:p>
            <a:pPr algn="l" marL="639131" indent="-319565" lvl="1">
              <a:lnSpc>
                <a:spcPts val="4144"/>
              </a:lnSpc>
              <a:buFont typeface="Arial"/>
              <a:buChar char="•"/>
            </a:pPr>
            <a:r>
              <a:rPr lang="en-US" sz="296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Google Maps API can help identify the road and route</a:t>
            </a:r>
          </a:p>
          <a:p>
            <a:pPr algn="l">
              <a:lnSpc>
                <a:spcPts val="4144"/>
              </a:lnSpc>
            </a:pPr>
          </a:p>
          <a:p>
            <a:pPr algn="l">
              <a:lnSpc>
                <a:spcPts val="3984"/>
              </a:lnSpc>
            </a:pPr>
            <a:r>
              <a:rPr lang="en-US" sz="28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  ECONOMIC FEASIBILITY</a:t>
            </a:r>
          </a:p>
          <a:p>
            <a:pPr algn="l" marL="614452" indent="-307226" lvl="1">
              <a:lnSpc>
                <a:spcPts val="3984"/>
              </a:lnSpc>
              <a:buFont typeface="Arial"/>
              <a:buChar char="•"/>
            </a:pPr>
            <a:r>
              <a:rPr lang="en-US" sz="28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ESP32, GPS MODULE, LEDS, AND SENSORS ARE LOW-COST.</a:t>
            </a:r>
          </a:p>
          <a:p>
            <a:pPr algn="l" marL="614452" indent="-307226" lvl="1">
              <a:lnSpc>
                <a:spcPts val="3984"/>
              </a:lnSpc>
              <a:buFont typeface="Arial"/>
              <a:buChar char="•"/>
            </a:pPr>
            <a:r>
              <a:rPr lang="en-US" sz="28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FIREBASE HAS A FREE/LOW-COST OPTION FOR PROTOTYPE DEVELOPMENT.</a:t>
            </a:r>
          </a:p>
          <a:p>
            <a:pPr algn="l" marL="614452" indent="-307226" lvl="1">
              <a:lnSpc>
                <a:spcPts val="3984"/>
              </a:lnSpc>
              <a:buFont typeface="Arial"/>
              <a:buChar char="•"/>
            </a:pPr>
            <a:r>
              <a:rPr lang="en-US" sz="28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EXISTING SMARTPHONES CAN BE USED FOR TESTING.</a:t>
            </a:r>
          </a:p>
          <a:p>
            <a:pPr algn="l" marL="614452" indent="-307226" lvl="1">
              <a:lnSpc>
                <a:spcPts val="3984"/>
              </a:lnSpc>
              <a:buFont typeface="Arial"/>
              <a:buChar char="•"/>
            </a:pPr>
            <a:r>
              <a:rPr lang="en-US" sz="28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THEREFORE, THE PROTOTYPE CAN BE DEVELOPED AT LOW COST.</a:t>
            </a:r>
          </a:p>
          <a:p>
            <a:pPr algn="l">
              <a:lnSpc>
                <a:spcPts val="3984"/>
              </a:lnSpc>
            </a:pPr>
          </a:p>
          <a:p>
            <a:pPr algn="l">
              <a:lnSpc>
                <a:spcPts val="3984"/>
              </a:lnSpc>
            </a:pPr>
            <a:r>
              <a:rPr lang="en-US" sz="28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  OPERATIONAL FEASBILITY</a:t>
            </a:r>
          </a:p>
          <a:p>
            <a:pPr algn="l" marL="614452" indent="-307226" lvl="1">
              <a:lnSpc>
                <a:spcPts val="3984"/>
              </a:lnSpc>
              <a:buFont typeface="Arial"/>
              <a:buChar char="•"/>
            </a:pPr>
            <a:r>
              <a:rPr lang="en-US" sz="28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AMBULANCE STAFF CAN ACTIVATE AN EMERGENCY MODE THROUGH THE APP.</a:t>
            </a:r>
          </a:p>
          <a:p>
            <a:pPr algn="l" marL="614452" indent="-307226" lvl="1">
              <a:lnSpc>
                <a:spcPts val="3984"/>
              </a:lnSpc>
              <a:buFont typeface="Arial"/>
              <a:buChar char="•"/>
            </a:pPr>
            <a:r>
              <a:rPr lang="en-US" sz="28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DRIVERS RECEIVE A SIMPLE WARNING SUCH AS “EMERGENCY VEHICLE AHEAD – CLEAR PATH.”</a:t>
            </a:r>
          </a:p>
          <a:p>
            <a:pPr algn="l" marL="614452" indent="-307226" lvl="1">
              <a:lnSpc>
                <a:spcPts val="3984"/>
              </a:lnSpc>
              <a:buFont typeface="Arial"/>
              <a:buChar char="•"/>
            </a:pPr>
            <a:r>
              <a:rPr lang="en-US" sz="28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TRAFFIC POLICE CAN RECEIVE THE SAME EMERGENCY INFORMATION THROUGH A DASHBOARD.</a:t>
            </a:r>
          </a:p>
          <a:p>
            <a:pPr algn="l" marL="0" indent="0" lvl="0">
              <a:lnSpc>
                <a:spcPts val="3984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5605083" y="649393"/>
            <a:ext cx="699196" cy="41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100"/>
              </a:lnSpc>
              <a:spcBef>
                <a:spcPct val="0"/>
              </a:spcBef>
            </a:pPr>
            <a:r>
              <a:rPr lang="en-US" sz="2000" spc="-80">
                <a:solidFill>
                  <a:srgbClr val="FFFFFF">
                    <a:alpha val="60000"/>
                  </a:srgbClr>
                </a:solidFill>
                <a:latin typeface="Codec Pro"/>
                <a:ea typeface="Codec Pro"/>
                <a:cs typeface="Codec Pro"/>
                <a:sym typeface="Codec Pro"/>
              </a:rPr>
              <a:t>Menu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529143" y="-1101830"/>
            <a:ext cx="2203661" cy="2203661"/>
          </a:xfrm>
          <a:custGeom>
            <a:avLst/>
            <a:gdLst/>
            <a:ahLst/>
            <a:cxnLst/>
            <a:rect r="r" b="b" t="t" l="l"/>
            <a:pathLst>
              <a:path h="2203661" w="2203661">
                <a:moveTo>
                  <a:pt x="0" y="0"/>
                </a:moveTo>
                <a:lnTo>
                  <a:pt x="2203660" y="0"/>
                </a:lnTo>
                <a:lnTo>
                  <a:pt x="2203660" y="2203660"/>
                </a:lnTo>
                <a:lnTo>
                  <a:pt x="0" y="22036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A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916502" y="800311"/>
            <a:ext cx="342798" cy="228389"/>
          </a:xfrm>
          <a:custGeom>
            <a:avLst/>
            <a:gdLst/>
            <a:ahLst/>
            <a:cxnLst/>
            <a:rect r="r" b="b" t="t" l="l"/>
            <a:pathLst>
              <a:path h="228389" w="342798">
                <a:moveTo>
                  <a:pt x="0" y="0"/>
                </a:moveTo>
                <a:lnTo>
                  <a:pt x="342798" y="0"/>
                </a:lnTo>
                <a:lnTo>
                  <a:pt x="342798" y="228389"/>
                </a:lnTo>
                <a:lnTo>
                  <a:pt x="0" y="2283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401723" y="9258300"/>
            <a:ext cx="3742277" cy="408248"/>
          </a:xfrm>
          <a:custGeom>
            <a:avLst/>
            <a:gdLst/>
            <a:ahLst/>
            <a:cxnLst/>
            <a:rect r="r" b="b" t="t" l="l"/>
            <a:pathLst>
              <a:path h="408248" w="3742277">
                <a:moveTo>
                  <a:pt x="0" y="0"/>
                </a:moveTo>
                <a:lnTo>
                  <a:pt x="3742277" y="0"/>
                </a:lnTo>
                <a:lnTo>
                  <a:pt x="3742277" y="408248"/>
                </a:lnTo>
                <a:lnTo>
                  <a:pt x="0" y="4082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309974" y="2901054"/>
            <a:ext cx="15949326" cy="6024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0"/>
              </a:lnSpc>
              <a:spcBef>
                <a:spcPct val="0"/>
              </a:spcBef>
            </a:pPr>
            <a:r>
              <a:rPr lang="en-US" sz="2045" spc="-8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The **Dynamic Emergency Corridor** is a proposed smart traffic management system designed to help ambulances move more efficiently through highway traffic.</a:t>
            </a:r>
          </a:p>
          <a:p>
            <a:pPr algn="ctr">
              <a:lnSpc>
                <a:spcPts val="3170"/>
              </a:lnSpc>
              <a:spcBef>
                <a:spcPct val="0"/>
              </a:spcBef>
            </a:pPr>
          </a:p>
          <a:p>
            <a:pPr algn="ctr">
              <a:lnSpc>
                <a:spcPts val="3170"/>
              </a:lnSpc>
              <a:spcBef>
                <a:spcPct val="0"/>
              </a:spcBef>
            </a:pPr>
            <a:r>
              <a:rPr lang="en-US" sz="2045" spc="-8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By combining GPS tracking, real-time communication, vehicle alerts, traffic-density information, ETA calculation, and traffic-police coordination, the system creates a temporary emergency corridor ahead of an ambulance.</a:t>
            </a:r>
          </a:p>
          <a:p>
            <a:pPr algn="ctr">
              <a:lnSpc>
                <a:spcPts val="3170"/>
              </a:lnSpc>
              <a:spcBef>
                <a:spcPct val="0"/>
              </a:spcBef>
            </a:pPr>
          </a:p>
          <a:p>
            <a:pPr algn="ctr">
              <a:lnSpc>
                <a:spcPts val="3170"/>
              </a:lnSpc>
              <a:spcBef>
                <a:spcPct val="0"/>
              </a:spcBef>
            </a:pPr>
            <a:r>
              <a:rPr lang="en-US" sz="2045" spc="-8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The initial prototype focuses on a 500-metre alert zone, while future versions can dynamically adjust the corridor based on speed, traffic density, and estimated arrival time.</a:t>
            </a:r>
          </a:p>
          <a:p>
            <a:pPr algn="ctr">
              <a:lnSpc>
                <a:spcPts val="3170"/>
              </a:lnSpc>
              <a:spcBef>
                <a:spcPct val="0"/>
              </a:spcBef>
            </a:pPr>
          </a:p>
          <a:p>
            <a:pPr algn="ctr">
              <a:lnSpc>
                <a:spcPts val="3170"/>
              </a:lnSpc>
              <a:spcBef>
                <a:spcPct val="0"/>
              </a:spcBef>
            </a:pPr>
            <a:r>
              <a:rPr lang="en-US" sz="2045" spc="-8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The most important principle of the project is:</a:t>
            </a:r>
          </a:p>
          <a:p>
            <a:pPr algn="ctr">
              <a:lnSpc>
                <a:spcPts val="3170"/>
              </a:lnSpc>
              <a:spcBef>
                <a:spcPct val="0"/>
              </a:spcBef>
            </a:pPr>
          </a:p>
          <a:p>
            <a:pPr algn="ctr">
              <a:lnSpc>
                <a:spcPts val="3170"/>
              </a:lnSpc>
              <a:spcBef>
                <a:spcPct val="0"/>
              </a:spcBef>
            </a:pPr>
            <a:r>
              <a:rPr lang="en-US" sz="2045" spc="-8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&gt; **Do not wait for the ambulance to reach the traffic. Warn the traffic before the ambulance arrives.**</a:t>
            </a:r>
          </a:p>
          <a:p>
            <a:pPr algn="ctr">
              <a:lnSpc>
                <a:spcPts val="3170"/>
              </a:lnSpc>
              <a:spcBef>
                <a:spcPct val="0"/>
              </a:spcBef>
            </a:pPr>
          </a:p>
          <a:p>
            <a:pPr algn="ctr">
              <a:lnSpc>
                <a:spcPts val="3170"/>
              </a:lnSpc>
              <a:spcBef>
                <a:spcPct val="0"/>
              </a:spcBef>
            </a:pPr>
            <a:r>
              <a:rPr lang="en-US" sz="2045" spc="-8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The proposed system can serve as a foundation for future integration with connected vehicles, highway infrastructure, traffic signals, navigation platforms, and intelligent transportation systems.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09974" y="895350"/>
            <a:ext cx="4797474" cy="991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32"/>
              </a:lnSpc>
            </a:pPr>
            <a:r>
              <a:rPr lang="en-US" sz="5665" u="sng">
                <a:solidFill>
                  <a:srgbClr val="0097B2"/>
                </a:solidFill>
                <a:latin typeface="Arimo"/>
                <a:ea typeface="Arimo"/>
                <a:cs typeface="Arimo"/>
                <a:sym typeface="Arimo"/>
              </a:rPr>
              <a:t>CONCLUSION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577" t="-23644" r="-8939" b="-1554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916502" y="800311"/>
            <a:ext cx="342798" cy="228389"/>
          </a:xfrm>
          <a:custGeom>
            <a:avLst/>
            <a:gdLst/>
            <a:ahLst/>
            <a:cxnLst/>
            <a:rect r="r" b="b" t="t" l="l"/>
            <a:pathLst>
              <a:path h="228389" w="342798">
                <a:moveTo>
                  <a:pt x="0" y="0"/>
                </a:moveTo>
                <a:lnTo>
                  <a:pt x="342798" y="0"/>
                </a:lnTo>
                <a:lnTo>
                  <a:pt x="342798" y="228389"/>
                </a:lnTo>
                <a:lnTo>
                  <a:pt x="0" y="2283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3107297"/>
            <a:ext cx="16230600" cy="4072405"/>
          </a:xfrm>
          <a:custGeom>
            <a:avLst/>
            <a:gdLst/>
            <a:ahLst/>
            <a:cxnLst/>
            <a:rect r="r" b="b" t="t" l="l"/>
            <a:pathLst>
              <a:path h="4072405" w="16230600">
                <a:moveTo>
                  <a:pt x="0" y="0"/>
                </a:moveTo>
                <a:lnTo>
                  <a:pt x="16230600" y="0"/>
                </a:lnTo>
                <a:lnTo>
                  <a:pt x="16230600" y="4072406"/>
                </a:lnTo>
                <a:lnTo>
                  <a:pt x="0" y="40724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423497" y="7650734"/>
            <a:ext cx="5589376" cy="609750"/>
          </a:xfrm>
          <a:custGeom>
            <a:avLst/>
            <a:gdLst/>
            <a:ahLst/>
            <a:cxnLst/>
            <a:rect r="r" b="b" t="t" l="l"/>
            <a:pathLst>
              <a:path h="609750" w="5589376">
                <a:moveTo>
                  <a:pt x="0" y="0"/>
                </a:moveTo>
                <a:lnTo>
                  <a:pt x="5589377" y="0"/>
                </a:lnTo>
                <a:lnTo>
                  <a:pt x="5589377" y="609750"/>
                </a:lnTo>
                <a:lnTo>
                  <a:pt x="0" y="6097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982472" y="2246836"/>
            <a:ext cx="5589376" cy="609750"/>
          </a:xfrm>
          <a:custGeom>
            <a:avLst/>
            <a:gdLst/>
            <a:ahLst/>
            <a:cxnLst/>
            <a:rect r="r" b="b" t="t" l="l"/>
            <a:pathLst>
              <a:path h="609750" w="5589376">
                <a:moveTo>
                  <a:pt x="0" y="0"/>
                </a:moveTo>
                <a:lnTo>
                  <a:pt x="5589377" y="0"/>
                </a:lnTo>
                <a:lnTo>
                  <a:pt x="5589377" y="609750"/>
                </a:lnTo>
                <a:lnTo>
                  <a:pt x="0" y="6097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283861" y="7650734"/>
            <a:ext cx="1758378" cy="1758378"/>
          </a:xfrm>
          <a:custGeom>
            <a:avLst/>
            <a:gdLst/>
            <a:ahLst/>
            <a:cxnLst/>
            <a:rect r="r" b="b" t="t" l="l"/>
            <a:pathLst>
              <a:path h="1758378" w="1758378">
                <a:moveTo>
                  <a:pt x="0" y="0"/>
                </a:moveTo>
                <a:lnTo>
                  <a:pt x="1758378" y="0"/>
                </a:lnTo>
                <a:lnTo>
                  <a:pt x="1758378" y="1758378"/>
                </a:lnTo>
                <a:lnTo>
                  <a:pt x="0" y="175837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79525" y="-1571986"/>
            <a:ext cx="3143972" cy="3143972"/>
          </a:xfrm>
          <a:custGeom>
            <a:avLst/>
            <a:gdLst/>
            <a:ahLst/>
            <a:cxnLst/>
            <a:rect r="r" b="b" t="t" l="l"/>
            <a:pathLst>
              <a:path h="3143972" w="3143972">
                <a:moveTo>
                  <a:pt x="0" y="0"/>
                </a:moveTo>
                <a:lnTo>
                  <a:pt x="3143972" y="0"/>
                </a:lnTo>
                <a:lnTo>
                  <a:pt x="3143972" y="3143972"/>
                </a:lnTo>
                <a:lnTo>
                  <a:pt x="0" y="314397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390548" y="3087672"/>
            <a:ext cx="15545004" cy="3044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848"/>
              </a:lnSpc>
            </a:pPr>
            <a:r>
              <a:rPr lang="en-US" sz="17748">
                <a:solidFill>
                  <a:srgbClr val="FFFFFF"/>
                </a:solidFill>
                <a:latin typeface="RQND Pro"/>
                <a:ea typeface="RQND Pro"/>
                <a:cs typeface="RQND Pro"/>
                <a:sym typeface="RQND Pro"/>
              </a:rPr>
              <a:t>THANK YOU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603355"/>
            <a:ext cx="2272147" cy="498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74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G</a:t>
            </a:r>
            <a:r>
              <a:rPr lang="en-US" b="true" sz="2499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ravity Tech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9144000"/>
            <a:ext cx="3835803" cy="41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00"/>
              </a:lnSpc>
              <a:spcBef>
                <a:spcPct val="0"/>
              </a:spcBef>
            </a:pPr>
            <a:r>
              <a:rPr lang="en-US" sz="2000" spc="-80" strike="noStrike" u="none">
                <a:solidFill>
                  <a:srgbClr val="FFFFFF">
                    <a:alpha val="60000"/>
                  </a:srgbClr>
                </a:solidFill>
                <a:latin typeface="Codec Pro"/>
                <a:ea typeface="Codec Pro"/>
                <a:cs typeface="Codec Pro"/>
                <a:sym typeface="Codec Pro"/>
              </a:rPr>
              <a:t>www.r</a:t>
            </a:r>
            <a:r>
              <a:rPr lang="en-US" sz="2000" spc="-80" strike="noStrike" u="none">
                <a:solidFill>
                  <a:srgbClr val="FFFFFF">
                    <a:alpha val="60000"/>
                  </a:srgbClr>
                </a:solidFill>
                <a:latin typeface="Codec Pro"/>
                <a:ea typeface="Codec Pro"/>
                <a:cs typeface="Codec Pro"/>
                <a:sym typeface="Codec Pro"/>
              </a:rPr>
              <a:t>e</a:t>
            </a:r>
            <a:r>
              <a:rPr lang="en-US" sz="2000" spc="-80" strike="noStrike" u="none">
                <a:solidFill>
                  <a:srgbClr val="FFFFFF">
                    <a:alpha val="60000"/>
                  </a:srgbClr>
                </a:solidFill>
                <a:latin typeface="Codec Pro"/>
                <a:ea typeface="Codec Pro"/>
                <a:cs typeface="Codec Pro"/>
                <a:sym typeface="Codec Pro"/>
              </a:rPr>
              <a:t>a</a:t>
            </a:r>
            <a:r>
              <a:rPr lang="en-US" sz="2000" spc="-80" strike="noStrike" u="none">
                <a:solidFill>
                  <a:srgbClr val="FFFFFF">
                    <a:alpha val="60000"/>
                  </a:srgbClr>
                </a:solidFill>
                <a:latin typeface="Codec Pro"/>
                <a:ea typeface="Codec Pro"/>
                <a:cs typeface="Codec Pro"/>
                <a:sym typeface="Codec Pro"/>
              </a:rPr>
              <a:t>lly</a:t>
            </a:r>
            <a:r>
              <a:rPr lang="en-US" sz="2000" spc="-80" strike="noStrike" u="none">
                <a:solidFill>
                  <a:srgbClr val="FFFFFF">
                    <a:alpha val="60000"/>
                  </a:srgbClr>
                </a:solidFill>
                <a:latin typeface="Codec Pro"/>
                <a:ea typeface="Codec Pro"/>
                <a:cs typeface="Codec Pro"/>
                <a:sym typeface="Codec Pro"/>
              </a:rPr>
              <a:t>g</a:t>
            </a:r>
            <a:r>
              <a:rPr lang="en-US" sz="2000" spc="-80" strike="noStrike" u="none">
                <a:solidFill>
                  <a:srgbClr val="FFFFFF">
                    <a:alpha val="60000"/>
                  </a:srgbClr>
                </a:solidFill>
                <a:latin typeface="Codec Pro"/>
                <a:ea typeface="Codec Pro"/>
                <a:cs typeface="Codec Pro"/>
                <a:sym typeface="Codec Pro"/>
              </a:rPr>
              <a:t>reats</a:t>
            </a:r>
            <a:r>
              <a:rPr lang="en-US" sz="2000" spc="-80" strike="noStrike" u="none">
                <a:solidFill>
                  <a:srgbClr val="FFFFFF">
                    <a:alpha val="60000"/>
                  </a:srgbClr>
                </a:solidFill>
                <a:latin typeface="Codec Pro"/>
                <a:ea typeface="Codec Pro"/>
                <a:cs typeface="Codec Pro"/>
                <a:sym typeface="Codec Pro"/>
              </a:rPr>
              <a:t>i</a:t>
            </a:r>
            <a:r>
              <a:rPr lang="en-US" sz="2000" spc="-80" strike="noStrike" u="none">
                <a:solidFill>
                  <a:srgbClr val="FFFFFF">
                    <a:alpha val="60000"/>
                  </a:srgbClr>
                </a:solidFill>
                <a:latin typeface="Codec Pro"/>
                <a:ea typeface="Codec Pro"/>
                <a:cs typeface="Codec Pro"/>
                <a:sym typeface="Codec Pro"/>
              </a:rPr>
              <a:t>te</a:t>
            </a:r>
            <a:r>
              <a:rPr lang="en-US" sz="2000" spc="-80" strike="noStrike" u="none">
                <a:solidFill>
                  <a:srgbClr val="FFFFFF">
                    <a:alpha val="60000"/>
                  </a:srgbClr>
                </a:solidFill>
                <a:latin typeface="Codec Pro"/>
                <a:ea typeface="Codec Pro"/>
                <a:cs typeface="Codec Pro"/>
                <a:sym typeface="Codec Pro"/>
              </a:rPr>
              <a:t>.com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423497" y="9144000"/>
            <a:ext cx="3835803" cy="41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100"/>
              </a:lnSpc>
              <a:spcBef>
                <a:spcPct val="0"/>
              </a:spcBef>
            </a:pPr>
            <a:r>
              <a:rPr lang="en-US" sz="2000" spc="-80">
                <a:solidFill>
                  <a:srgbClr val="FFFFFF">
                    <a:alpha val="60000"/>
                  </a:srgbClr>
                </a:solidFill>
                <a:latin typeface="Codec Pro"/>
                <a:ea typeface="Codec Pro"/>
                <a:cs typeface="Codec Pro"/>
                <a:sym typeface="Codec Pro"/>
              </a:rPr>
              <a:t>Innovative AI Presentation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605083" y="649393"/>
            <a:ext cx="699196" cy="41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100"/>
              </a:lnSpc>
              <a:spcBef>
                <a:spcPct val="0"/>
              </a:spcBef>
            </a:pPr>
            <a:r>
              <a:rPr lang="en-US" sz="2000" spc="-80">
                <a:solidFill>
                  <a:srgbClr val="FFFFFF">
                    <a:alpha val="60000"/>
                  </a:srgbClr>
                </a:solidFill>
                <a:latin typeface="Codec Pro"/>
                <a:ea typeface="Codec Pro"/>
                <a:cs typeface="Codec Pro"/>
                <a:sym typeface="Codec Pro"/>
              </a:rPr>
              <a:t>Menu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495847" y="649393"/>
            <a:ext cx="1423844" cy="41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00"/>
              </a:lnSpc>
              <a:spcBef>
                <a:spcPct val="0"/>
              </a:spcBef>
            </a:pPr>
            <a:r>
              <a:rPr lang="en-US" sz="2000" spc="-80">
                <a:solidFill>
                  <a:srgbClr val="FFFFFF">
                    <a:alpha val="60000"/>
                  </a:srgbClr>
                </a:solidFill>
                <a:latin typeface="Codec Pro"/>
                <a:ea typeface="Codec Pro"/>
                <a:cs typeface="Codec Pro"/>
                <a:sym typeface="Codec Pro"/>
              </a:rPr>
              <a:t>Home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472665" y="649393"/>
            <a:ext cx="1423844" cy="41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00"/>
              </a:lnSpc>
              <a:spcBef>
                <a:spcPct val="0"/>
              </a:spcBef>
            </a:pPr>
            <a:r>
              <a:rPr lang="en-US" sz="2000" spc="-80">
                <a:solidFill>
                  <a:srgbClr val="FFFFFF">
                    <a:alpha val="60000"/>
                  </a:srgbClr>
                </a:solidFill>
                <a:latin typeface="Codec Pro"/>
                <a:ea typeface="Codec Pro"/>
                <a:cs typeface="Codec Pro"/>
                <a:sym typeface="Codec Pro"/>
              </a:rPr>
              <a:t>About Us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319832" y="3184255"/>
            <a:ext cx="9388050" cy="962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38"/>
              </a:lnSpc>
            </a:pPr>
            <a:r>
              <a:rPr lang="en-US" sz="5598">
                <a:solidFill>
                  <a:srgbClr val="FFFFFF"/>
                </a:solidFill>
                <a:latin typeface="RQND Pro Medium"/>
                <a:ea typeface="RQND Pro Medium"/>
                <a:cs typeface="RQND Pro Medium"/>
                <a:sym typeface="RQND Pro Medium"/>
              </a:rPr>
              <a:t>SEE YOU NEXT TIME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185631" y="6037279"/>
            <a:ext cx="1938214" cy="775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87"/>
              </a:lnSpc>
            </a:pPr>
            <a:r>
              <a:rPr lang="en-US" sz="4491">
                <a:solidFill>
                  <a:srgbClr val="FFFFFF"/>
                </a:solidFill>
                <a:latin typeface="RQND Pro Medium"/>
                <a:ea typeface="RQND Pro Medium"/>
                <a:cs typeface="RQND Pro Medium"/>
                <a:sym typeface="RQND Pro Medium"/>
              </a:rPr>
              <a:t>2027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DAHXcX4EZz4</dc:identifier>
  <dcterms:modified xsi:type="dcterms:W3CDTF">2011-08-01T06:04:30Z</dcterms:modified>
  <cp:revision>1</cp:revision>
  <dc:title>Dynamic Emergency Corridor – Smart Ambulance Traffic Clearance System</dc:title>
</cp:coreProperties>
</file>